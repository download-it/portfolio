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3439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514350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5143500"/>
          </a:xfrm>
          <a:prstGeom prst="rect">
            <a:avLst/>
          </a:prstGeom>
          <a:solidFill>
            <a:srgbClr val="2196F3">
              <a:alpha val="30000"/>
            </a:srgbClr>
          </a:solidFill>
          <a:ln w="12700">
            <a:solidFill>
              <a:srgbClr val="2196F3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4114800"/>
            <a:ext cx="1645920" cy="1645920"/>
          </a:xfrm>
          <a:prstGeom prst="ellipse">
            <a:avLst/>
          </a:prstGeom>
          <a:solidFill>
            <a:srgbClr val="2196F3">
              <a:alpha val="15000"/>
            </a:srgbClr>
          </a:solidFill>
          <a:ln w="12700">
            <a:solidFill>
              <a:srgbClr val="2196F3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3474720"/>
            <a:ext cx="914400" cy="914400"/>
          </a:xfrm>
          <a:prstGeom prst="ellipse">
            <a:avLst/>
          </a:prstGeom>
          <a:solidFill>
            <a:srgbClr val="00BCD4">
              <a:alpha val="15000"/>
            </a:srgbClr>
          </a:solidFill>
          <a:ln w="12700">
            <a:solidFill>
              <a:srgbClr val="00BCD4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85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d'Infrastructure Cloud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Pipeline CI/CD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914400" cy="54864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3464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· CI/CD Automation · Container Orchestration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4023360" cy="1371600"/>
          </a:xfrm>
          <a:prstGeom prst="rect">
            <a:avLst/>
          </a:prstGeom>
          <a:solidFill>
            <a:srgbClr val="122040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38328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
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Abderrahmane HASSANI &amp; Anas ELHAFI
</a:t>
            </a:r>
            <a:r>
              <a:rPr lang="en-US" sz="110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
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l'infrastructure cloud et déployer un pipeline CI/CD de bout en bout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55080" y="411480"/>
            <a:ext cx="822960" cy="822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7200"/>
            <a:ext cx="731520" cy="7315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60920" y="411480"/>
            <a:ext cx="822960" cy="822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457200"/>
            <a:ext cx="731520" cy="7315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325880"/>
            <a:ext cx="822960" cy="822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371600"/>
            <a:ext cx="731520" cy="73152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360920" y="1325880"/>
            <a:ext cx="822960" cy="822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371600"/>
            <a:ext cx="731520" cy="7315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858000" y="2240280"/>
            <a:ext cx="914400" cy="91440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2286000"/>
            <a:ext cx="822960" cy="82296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71428"/>
          </a:solidFill>
          <a:ln w="12700">
            <a:solidFill>
              <a:srgbClr val="071428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d'Automatisation Avancée · DevOps &amp; Cloud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des Matières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des chapitres de la présentation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4160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88720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2344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2252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du Projet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581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globale, objectifs et périmètre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103120"/>
            <a:ext cx="4160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03120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488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21396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Technologiques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2496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des outils et frameworks retenus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017520"/>
            <a:ext cx="4160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17520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0632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30540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Provisionnement avec Terraform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4107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Code, EC2, réseau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931920"/>
            <a:ext cx="4160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931920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9776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05840" y="3968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avec Ansible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05840" y="43251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logicielle, playbooks séquentiels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1188720"/>
            <a:ext cx="4160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1188720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12344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440680" y="12252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avec Jenkins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40680" y="1581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test, push et déploiement automatisés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2103120"/>
            <a:ext cx="4160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2103120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21488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440680" y="21396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K3s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40680" y="2496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Kubernetes léger, pods et services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54880" y="3017520"/>
            <a:ext cx="4160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3017520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30632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440680" y="30540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Défis Techniques &amp; Solutions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40680" y="34107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Ressources, IP éphémères, résilience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3931920"/>
            <a:ext cx="4160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54880" y="3931920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39776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440680" y="3968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de Reproduction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440680" y="43251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de mise en œuvre et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Vue d'Ensemble du Projet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Contexte, objectifs et architecture de haut niveau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projet met en œuvre une chaîne DevOps complète et automatisée sur AWS. L'objectif central est d'éliminer toute intervention manuelle — du provisionnement de l'infrastructure jusqu'à la mise en production d'une application conteneurisée.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87452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020824"/>
            <a:ext cx="512064" cy="5120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1480" y="2651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0632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Provisionnement reproductible et versionnable de l'infrastructure AWS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468880" y="187452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688" y="2020824"/>
            <a:ext cx="512064" cy="51206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560320" y="2651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Configuration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560320" y="30632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automatisée et cohérente de tous les nœuds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617720" y="187452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2020824"/>
            <a:ext cx="512064" cy="51206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09160" y="2651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Continue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709160" y="30632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automatisé de build, test et livraison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66560" y="187452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6368" y="2032936"/>
            <a:ext cx="512064" cy="51206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58000" y="2651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Cloud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58000" y="30632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haute disponibilité via cluster K3s léger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0" y="4617720"/>
            <a:ext cx="9144000" cy="5212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74320" y="4663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Outils DevOps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2286000" y="4754880"/>
            <a:ext cx="18288" cy="256032"/>
          </a:xfrm>
          <a:prstGeom prst="rect">
            <a:avLst/>
          </a:prstGeom>
          <a:solidFill>
            <a:srgbClr val="3A5A80"/>
          </a:solidFill>
          <a:ln w="12700">
            <a:solidFill>
              <a:srgbClr val="3A5A8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2468880" y="4663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Instances AWS t3.micro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4480560" y="4754880"/>
            <a:ext cx="18288" cy="256032"/>
          </a:xfrm>
          <a:prstGeom prst="rect">
            <a:avLst/>
          </a:prstGeom>
          <a:solidFill>
            <a:srgbClr val="3A5A80"/>
          </a:solidFill>
          <a:ln w="12700">
            <a:solidFill>
              <a:srgbClr val="3A5A8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4663440" y="4663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Cluster K3s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675120" y="4754880"/>
            <a:ext cx="18288" cy="256032"/>
          </a:xfrm>
          <a:prstGeom prst="rect">
            <a:avLst/>
          </a:prstGeom>
          <a:solidFill>
            <a:srgbClr val="3A5A80"/>
          </a:solidFill>
          <a:ln w="12700">
            <a:solidFill>
              <a:srgbClr val="3A5A8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858000" y="4663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Intervention Manuelle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Global du Projet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bout en bout de l'infrastructure jusqu'au déploiement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1920240" cy="36576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600200"/>
            <a:ext cx="64008" cy="59436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190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init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2313432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313432"/>
            <a:ext cx="64008" cy="59436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323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plan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3026664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3026664"/>
            <a:ext cx="64008" cy="59436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1455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apply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3739896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739896"/>
            <a:ext cx="64008" cy="59436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858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IPs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221992" y="1920240"/>
            <a:ext cx="18288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58568" y="1810512"/>
            <a:ext cx="18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423160" y="1097280"/>
            <a:ext cx="1920240" cy="365760"/>
          </a:xfrm>
          <a:prstGeom prst="rect">
            <a:avLst/>
          </a:prstGeom>
          <a:solidFill>
            <a:srgbClr val="EE0000"/>
          </a:solidFill>
          <a:ln w="12700">
            <a:solidFill>
              <a:srgbClr val="EE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316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423160" y="1600200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423160" y="1600200"/>
            <a:ext cx="64008" cy="594360"/>
          </a:xfrm>
          <a:prstGeom prst="rect">
            <a:avLst/>
          </a:prstGeom>
          <a:solidFill>
            <a:srgbClr val="EE0000"/>
          </a:solidFill>
          <a:ln w="12700">
            <a:solidFill>
              <a:srgbClr val="EE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17190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423160" y="2313432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423160" y="2313432"/>
            <a:ext cx="64008" cy="594360"/>
          </a:xfrm>
          <a:prstGeom prst="rect">
            <a:avLst/>
          </a:prstGeom>
          <a:solidFill>
            <a:srgbClr val="EE0000"/>
          </a:solidFill>
          <a:ln w="12700">
            <a:solidFill>
              <a:srgbClr val="EE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24323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423160" y="3026664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23160" y="3026664"/>
            <a:ext cx="64008" cy="594360"/>
          </a:xfrm>
          <a:prstGeom prst="rect">
            <a:avLst/>
          </a:prstGeom>
          <a:solidFill>
            <a:srgbClr val="EE0000"/>
          </a:solidFill>
          <a:ln w="12700">
            <a:solidFill>
              <a:srgbClr val="EE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31455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2423160" y="3739896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23160" y="3739896"/>
            <a:ext cx="64008" cy="594360"/>
          </a:xfrm>
          <a:prstGeom prst="rect">
            <a:avLst/>
          </a:prstGeom>
          <a:solidFill>
            <a:srgbClr val="EE0000"/>
          </a:solidFill>
          <a:ln w="12700">
            <a:solidFill>
              <a:srgbClr val="EE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3858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K3s/Jenkins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70832" y="1920240"/>
            <a:ext cx="18288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7408" y="1810512"/>
            <a:ext cx="18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572000" y="1097280"/>
            <a:ext cx="1920240" cy="365760"/>
          </a:xfrm>
          <a:prstGeom prst="rect">
            <a:avLst/>
          </a:prstGeom>
          <a:solidFill>
            <a:srgbClr val="D33833"/>
          </a:solidFill>
          <a:ln w="12700">
            <a:solidFill>
              <a:srgbClr val="D338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CI/CD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0" y="1600200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572000" y="1600200"/>
            <a:ext cx="64008" cy="594360"/>
          </a:xfrm>
          <a:prstGeom prst="rect">
            <a:avLst/>
          </a:prstGeom>
          <a:solidFill>
            <a:srgbClr val="D33833"/>
          </a:solidFill>
          <a:ln w="12700">
            <a:solidFill>
              <a:srgbClr val="D338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17190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572000" y="2313432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572000" y="2313432"/>
            <a:ext cx="64008" cy="594360"/>
          </a:xfrm>
          <a:prstGeom prst="rect">
            <a:avLst/>
          </a:prstGeom>
          <a:solidFill>
            <a:srgbClr val="D33833"/>
          </a:solidFill>
          <a:ln w="12700">
            <a:solidFill>
              <a:srgbClr val="D338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24323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572000" y="3026664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572000" y="3026664"/>
            <a:ext cx="64008" cy="594360"/>
          </a:xfrm>
          <a:prstGeom prst="rect">
            <a:avLst/>
          </a:prstGeom>
          <a:solidFill>
            <a:srgbClr val="D33833"/>
          </a:solidFill>
          <a:ln w="12700">
            <a:solidFill>
              <a:srgbClr val="D338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0" y="31455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Image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4572000" y="3739896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572000" y="3739896"/>
            <a:ext cx="64008" cy="594360"/>
          </a:xfrm>
          <a:prstGeom prst="rect">
            <a:avLst/>
          </a:prstGeom>
          <a:solidFill>
            <a:srgbClr val="D33833"/>
          </a:solidFill>
          <a:ln w="12700">
            <a:solidFill>
              <a:srgbClr val="D338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54880" y="3858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519672" y="1920240"/>
            <a:ext cx="18288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56248" y="1810512"/>
            <a:ext cx="18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720840" y="1097280"/>
            <a:ext cx="1920240" cy="36576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72084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K3S CLUSTER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720840" y="1600200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20840" y="1600200"/>
            <a:ext cx="64008" cy="59436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3720" y="17190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720840" y="2313432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720840" y="2313432"/>
            <a:ext cx="64008" cy="59436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03720" y="24323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720840" y="3026664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6720840" y="3026664"/>
            <a:ext cx="64008" cy="59436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903720" y="31455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NodePort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6720840" y="3739896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6720840" y="3739896"/>
            <a:ext cx="64008" cy="59436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3720" y="3858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:30080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Choix Technologiques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des outils sélectionnés pour chaque couche de l'architecture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1362456"/>
            <a:ext cx="475488" cy="4754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69848" y="1298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69848" y="15910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4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Provisionnement IaC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29768" y="1993392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Déclaratif, état partagé, support AWS natif via provider officiel. Permet la reproductibilité complète.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82112" y="118872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8416" y="1362456"/>
            <a:ext cx="475488" cy="4754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931920" y="1298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931920" y="15910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Configuration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291840" y="1993392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agent, idempotent, YAML lisible. Parfait pour configurer des nœuds fraîchement provisionnés.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44184" y="118872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1362456"/>
            <a:ext cx="475488" cy="47548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793992" y="1298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793992" y="15910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3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Automation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153912" y="1993392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via plugins, Jenkinsfile versionnable avec le code, intégration Docker et Kubernetes native.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320040" y="3035808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" y="3209544"/>
            <a:ext cx="475488" cy="47548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69848" y="31455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1069848" y="34381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Conteneurisation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29768" y="384048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des dépendances, portabilité totale, BuildKit pour builds optimisés sur ressources limitées.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3182112" y="3035808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8416" y="3209544"/>
            <a:ext cx="475488" cy="47548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931920" y="31455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K3s</a:t>
            </a:r>
            <a:endParaRPr lang="en-US" sz="1400" dirty="0"/>
          </a:p>
        </p:txBody>
      </p:sp>
      <p:sp>
        <p:nvSpPr>
          <p:cNvPr id="34" name="Text 27"/>
          <p:cNvSpPr/>
          <p:nvPr/>
        </p:nvSpPr>
        <p:spPr>
          <a:xfrm>
            <a:off x="3931920" y="34381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Légère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3291840" y="384048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Kubernetes certifiée CNCF, ~70 MB RAM vs 300+ MB pour K8s. Idéal pour instances t3.micro.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6044184" y="3035808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6153912" y="3172968"/>
            <a:ext cx="548640" cy="54864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0488" y="3209544"/>
            <a:ext cx="475488" cy="47548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793992" y="31455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</a:t>
            </a:r>
            <a:endParaRPr lang="en-US" sz="1400" dirty="0"/>
          </a:p>
        </p:txBody>
      </p:sp>
      <p:sp>
        <p:nvSpPr>
          <p:cNvPr id="40" name="Text 32"/>
          <p:cNvSpPr/>
          <p:nvPr/>
        </p:nvSpPr>
        <p:spPr>
          <a:xfrm>
            <a:off x="6793992" y="34381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Cloud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153912" y="384048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t3.micro avec Debian 12 : stabilité, coût maîtrisé, VPC et Security Groups pour l'isolation réseau.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Provisionnement avec Terraform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— AWS EC2 Debian 12, réseau et automatisation système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02920" cy="502920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34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" y="1737360"/>
            <a:ext cx="32004" cy="41148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143000"/>
            <a:ext cx="3566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1143000"/>
            <a:ext cx="64008" cy="713232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118872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init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" y="149961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Initialisation des providers AWS, téléchargement des modules et plugins requis.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148840"/>
            <a:ext cx="502920" cy="502920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148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3212" y="2651760"/>
            <a:ext cx="32004" cy="41148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057400"/>
            <a:ext cx="3566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0120" y="2057400"/>
            <a:ext cx="64008" cy="713232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5568" y="210312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plan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15568" y="241401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Aperçu des ressources à créer : instances EC2, Security Groups, VPC, clés SSH.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3063240"/>
            <a:ext cx="502920" cy="502920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" y="3566160"/>
            <a:ext cx="32004" cy="41148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2971800"/>
            <a:ext cx="3566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60120" y="2971800"/>
            <a:ext cx="64008" cy="713232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301752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apply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5568" y="332841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effectif des VMs (Jenkins, Master K3s, Worker), réseau et partitions swap.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3977640"/>
            <a:ext cx="502920" cy="502920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60120" y="3886200"/>
            <a:ext cx="3566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0120" y="3886200"/>
            <a:ext cx="64008" cy="713232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15568" y="393192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15568" y="424281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des IPs publiques/privées et du kubeconfig pour les étapes Ansible suivantes.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46320" y="1097280"/>
            <a:ext cx="3931920" cy="3794760"/>
          </a:xfrm>
          <a:prstGeom prst="rect">
            <a:avLst/>
          </a:prstGeom>
          <a:solidFill>
            <a:srgbClr val="F0F4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029200" y="117043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Clés</a:t>
            </a:r>
            <a:endParaRPr lang="en-US" sz="1300" dirty="0"/>
          </a:p>
        </p:txBody>
      </p:sp>
      <p:pic>
        <p:nvPicPr>
          <p:cNvPr id="3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1600200"/>
            <a:ext cx="347472" cy="347472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5486400" y="15727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instances EC2 t3.micro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486400" y="184708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· K3s Master · K3s Worker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074920" y="2103120"/>
            <a:ext cx="3566160" cy="9144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39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0" y="2240280"/>
            <a:ext cx="347472" cy="347472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5486400" y="22128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5486400" y="2487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22, 8080, 6443, 30080 configurés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5074920" y="2743200"/>
            <a:ext cx="3566160" cy="9144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43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29200" y="2880360"/>
            <a:ext cx="347472" cy="347472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5486400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automatique</a:t>
            </a:r>
            <a:endParaRPr lang="en-US" sz="1200" dirty="0"/>
          </a:p>
        </p:txBody>
      </p:sp>
      <p:sp>
        <p:nvSpPr>
          <p:cNvPr id="45" name="Text 40"/>
          <p:cNvSpPr/>
          <p:nvPr/>
        </p:nvSpPr>
        <p:spPr>
          <a:xfrm>
            <a:off x="5486400" y="312724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 via user_data au premier boot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074920" y="3383280"/>
            <a:ext cx="3566160" cy="9144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47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29200" y="3520440"/>
            <a:ext cx="347472" cy="347472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5486400" y="3493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user_data scripts</a:t>
            </a:r>
            <a:endParaRPr lang="en-US" sz="1200" dirty="0"/>
          </a:p>
        </p:txBody>
      </p:sp>
      <p:sp>
        <p:nvSpPr>
          <p:cNvPr id="49" name="Text 43"/>
          <p:cNvSpPr/>
          <p:nvPr/>
        </p:nvSpPr>
        <p:spPr>
          <a:xfrm>
            <a:off x="5486400" y="37673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injecté dès le démarrage des VMs</a:t>
            </a:r>
            <a:endParaRPr lang="en-US" sz="1000" dirty="0"/>
          </a:p>
        </p:txBody>
      </p:sp>
      <p:sp>
        <p:nvSpPr>
          <p:cNvPr id="50" name="Shape 44"/>
          <p:cNvSpPr/>
          <p:nvPr/>
        </p:nvSpPr>
        <p:spPr>
          <a:xfrm>
            <a:off x="5074920" y="4023360"/>
            <a:ext cx="3566160" cy="9144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51" name="Imag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029200" y="4160520"/>
            <a:ext cx="347472" cy="347472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5486400" y="41330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Two-trigger strategy</a:t>
            </a:r>
            <a:endParaRPr lang="en-US" sz="1200" dirty="0"/>
          </a:p>
        </p:txBody>
      </p:sp>
      <p:sp>
        <p:nvSpPr>
          <p:cNvPr id="53" name="Text 46"/>
          <p:cNvSpPr/>
          <p:nvPr/>
        </p:nvSpPr>
        <p:spPr>
          <a:xfrm>
            <a:off x="5486400" y="44074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initial_setup + reconfigure_stack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Réseau &amp; Gestion des Flux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 AWS — contrôle granulaire des entrées/sorties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41605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416052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22 · SSH</a:t>
            </a:r>
            <a:endParaRPr lang="en-US" sz="1300" dirty="0"/>
          </a:p>
        </p:txBody>
      </p:sp>
      <p:pic>
        <p:nvPicPr>
          <p:cNvPr id="9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645920"/>
            <a:ext cx="475488" cy="4754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69848" y="1618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administratif distant sécurisé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69848" y="1929384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Utilisé exclusivement par Terraform et Ansible pour la configuration des nœuds.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41605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143000"/>
            <a:ext cx="416052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64608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8080 · TCP</a:t>
            </a:r>
            <a:endParaRPr lang="en-US" sz="1300" dirty="0"/>
          </a:p>
        </p:txBody>
      </p:sp>
      <p:pic>
        <p:nvPicPr>
          <p:cNvPr id="15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92040" y="1645920"/>
            <a:ext cx="475488" cy="4754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04688" y="1618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 Jenkins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504688" y="1929384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CI/CD — accessible aux administrateurs pour déclencher et surveiller les builds.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320040" y="3063240"/>
            <a:ext cx="41605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20040" y="3063240"/>
            <a:ext cx="4160520" cy="41148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29768" y="3108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6443 · TCP</a:t>
            </a:r>
            <a:endParaRPr lang="en-US" sz="13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566160"/>
            <a:ext cx="475488" cy="47548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069848" y="35387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Kubernetes K3s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1069848" y="3849624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interne et externe avec l'API server — utilisée par kubectl et Jenkins.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754880" y="3063240"/>
            <a:ext cx="41605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754880" y="3063240"/>
            <a:ext cx="4160520" cy="41148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864608" y="3108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30080 · NodePort</a:t>
            </a:r>
            <a:endParaRPr lang="en-US" sz="13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566160"/>
            <a:ext cx="475488" cy="47548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504688" y="35387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déployée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5504688" y="3849624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 publique de l'application web via NodePort Kubernetes sur le nœud worker.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Gestion de Configuration — Ansible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asymétrique : orchestration centralisée depuis le nœud maître K3s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502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IaC : Terraform génère dynamiquement hosts.ini avec les IPs des instances, installe Ansible sur le nœud maître via user_data, et transfère sécuritairement clé .pem + playbooks YAML.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755648"/>
            <a:ext cx="26974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755648"/>
            <a:ext cx="2697480" cy="45720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73936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master_setup.yml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" y="202082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: [master]</a:t>
            </a:r>
            <a:endParaRPr lang="en-US" sz="95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331720"/>
            <a:ext cx="685800" cy="685800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312724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77240" y="31272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 K3s server</a:t>
            </a:r>
            <a:endParaRPr lang="en-US" sz="10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351129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77240" y="351129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l'API Kubernetes</a:t>
            </a:r>
            <a:endParaRPr lang="en-US" sz="10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389534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77240" y="389534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Génère le token d'authentification</a:t>
            </a:r>
            <a:endParaRPr lang="en-US" sz="105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4279392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777240" y="4279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 le kubeconfig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3182112" y="1755648"/>
            <a:ext cx="26974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3182112" y="1755648"/>
            <a:ext cx="2697480" cy="457200"/>
          </a:xfrm>
          <a:prstGeom prst="rect">
            <a:avLst/>
          </a:prstGeom>
          <a:solidFill>
            <a:srgbClr val="D33833"/>
          </a:solidFill>
          <a:ln w="12700">
            <a:solidFill>
              <a:srgbClr val="D33833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3273552" y="1773936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jenkins_setup.yml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3273552" y="202082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: [jenkins]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7952" y="2331720"/>
            <a:ext cx="685800" cy="685800"/>
          </a:xfrm>
          <a:prstGeom prst="rect">
            <a:avLst/>
          </a:prstGeom>
        </p:spPr>
      </p:pic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3127248"/>
            <a:ext cx="256032" cy="25603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639312" y="31272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 Java 17 + Jenkins</a:t>
            </a:r>
            <a:endParaRPr lang="en-US" sz="105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3511296"/>
            <a:ext cx="256032" cy="256032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3639312" y="351129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 Docker daemon</a:t>
            </a:r>
            <a:endParaRPr lang="en-US" sz="105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3895344"/>
            <a:ext cx="256032" cy="256032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3639312" y="389534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kubeconfig depuis Master</a:t>
            </a:r>
            <a:endParaRPr lang="en-US" sz="1050" dirty="0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4279392"/>
            <a:ext cx="256032" cy="256032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3639312" y="4279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plugins CI/CD</a:t>
            </a:r>
            <a:endParaRPr lang="en-US" sz="1050" dirty="0"/>
          </a:p>
        </p:txBody>
      </p:sp>
      <p:sp>
        <p:nvSpPr>
          <p:cNvPr id="34" name="Shape 22"/>
          <p:cNvSpPr/>
          <p:nvPr/>
        </p:nvSpPr>
        <p:spPr>
          <a:xfrm>
            <a:off x="6044184" y="1755648"/>
            <a:ext cx="26974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23"/>
          <p:cNvSpPr/>
          <p:nvPr/>
        </p:nvSpPr>
        <p:spPr>
          <a:xfrm>
            <a:off x="6044184" y="1755648"/>
            <a:ext cx="2697480" cy="45720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6135624" y="1773936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worker_setup.yml</a:t>
            </a:r>
            <a:endParaRPr lang="en-US" sz="1150" dirty="0"/>
          </a:p>
        </p:txBody>
      </p:sp>
      <p:sp>
        <p:nvSpPr>
          <p:cNvPr id="37" name="Text 25"/>
          <p:cNvSpPr/>
          <p:nvPr/>
        </p:nvSpPr>
        <p:spPr>
          <a:xfrm>
            <a:off x="6135624" y="202082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: [worker]</a:t>
            </a:r>
            <a:endParaRPr lang="en-US" sz="950" dirty="0"/>
          </a:p>
        </p:txBody>
      </p:sp>
      <p:pic>
        <p:nvPicPr>
          <p:cNvPr id="38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4" y="2331720"/>
            <a:ext cx="685800" cy="685800"/>
          </a:xfrm>
          <a:prstGeom prst="rect">
            <a:avLst/>
          </a:prstGeom>
        </p:spPr>
      </p:pic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127248"/>
            <a:ext cx="256032" cy="256032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6501384" y="31272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Docker daemon</a:t>
            </a:r>
            <a:endParaRPr lang="en-US" sz="1050" dirty="0"/>
          </a:p>
        </p:txBody>
      </p:sp>
      <p:pic>
        <p:nvPicPr>
          <p:cNvPr id="41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511296"/>
            <a:ext cx="256032" cy="256032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501384" y="351129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 agent K3s</a:t>
            </a:r>
            <a:endParaRPr lang="en-US" sz="1050" dirty="0"/>
          </a:p>
        </p:txBody>
      </p:sp>
      <p:pic>
        <p:nvPicPr>
          <p:cNvPr id="43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895344"/>
            <a:ext cx="256032" cy="256032"/>
          </a:xfrm>
          <a:prstGeom prst="rect">
            <a:avLst/>
          </a:prstGeom>
        </p:spPr>
      </p:pic>
      <p:sp>
        <p:nvSpPr>
          <p:cNvPr id="44" name="Text 28"/>
          <p:cNvSpPr/>
          <p:nvPr/>
        </p:nvSpPr>
        <p:spPr>
          <a:xfrm>
            <a:off x="6501384" y="389534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Rejoint le cluster via IP privée</a:t>
            </a:r>
            <a:endParaRPr lang="en-US" sz="1050" dirty="0"/>
          </a:p>
        </p:txBody>
      </p:sp>
      <p:pic>
        <p:nvPicPr>
          <p:cNvPr id="45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4279392"/>
            <a:ext cx="256032" cy="256032"/>
          </a:xfrm>
          <a:prstGeom prst="rect">
            <a:avLst/>
          </a:prstGeom>
        </p:spPr>
      </p:pic>
      <p:sp>
        <p:nvSpPr>
          <p:cNvPr id="46" name="Text 29"/>
          <p:cNvSpPr/>
          <p:nvPr/>
        </p:nvSpPr>
        <p:spPr>
          <a:xfrm>
            <a:off x="6501384" y="4279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l'état 'Ready'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Pipeline CI/CD — Jenkins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Jenkinsfile déclaratif : trois phases séquentielles de l'intégration au déploiement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269748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64008" cy="713232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9768" y="1170432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113385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SCM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60120" y="138988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déclenche le build automatiquement à chaque push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82112" y="1097280"/>
            <a:ext cx="269748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182112" y="1097280"/>
            <a:ext cx="64008" cy="713232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1170432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22192" y="113385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Plugin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822192" y="138988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Docker intégré, accès au daemon Docker local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044184" y="1097280"/>
            <a:ext cx="269748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44184" y="1097280"/>
            <a:ext cx="64008" cy="713232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18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53912" y="1170432"/>
            <a:ext cx="420624" cy="4206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84264" y="113385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684264" y="138988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Hub login chiffré via gestionnaire Jenkins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8686800" y="1207008"/>
            <a:ext cx="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4F8FC"/>
                </a:solidFill>
              </a:rPr>
              <a:t>Préconfiguration Jenkins</a:t>
            </a:r>
            <a:endParaRPr lang="en-US" sz="100" dirty="0"/>
          </a:p>
        </p:txBody>
      </p:sp>
      <p:sp>
        <p:nvSpPr>
          <p:cNvPr id="22" name="Shape 17"/>
          <p:cNvSpPr/>
          <p:nvPr/>
        </p:nvSpPr>
        <p:spPr>
          <a:xfrm>
            <a:off x="320040" y="1993392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320040" y="1993392"/>
            <a:ext cx="269748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11480" y="20299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Intégration Continue</a:t>
            </a:r>
            <a:endParaRPr lang="en-US" sz="12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2542032"/>
            <a:ext cx="658368" cy="658368"/>
          </a:xfrm>
          <a:prstGeom prst="rect">
            <a:avLst/>
          </a:prstGeom>
        </p:spPr>
      </p:pic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" y="3337560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77240" y="333756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du code source (GitHub SCM)</a:t>
            </a:r>
            <a:endParaRPr lang="en-US" sz="10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" y="3767328"/>
            <a:ext cx="237744" cy="23774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77240" y="37673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image Docker via BuildKit</a:t>
            </a:r>
            <a:endParaRPr lang="en-US" sz="10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" y="4197096"/>
            <a:ext cx="237744" cy="23774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77240" y="4197096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Exécution : node:20, DOCKER_BUILDKIT=1</a:t>
            </a:r>
            <a:endParaRPr lang="en-US" sz="1000" dirty="0"/>
          </a:p>
        </p:txBody>
      </p:sp>
      <p:sp>
        <p:nvSpPr>
          <p:cNvPr id="32" name="Text 23"/>
          <p:cNvSpPr/>
          <p:nvPr/>
        </p:nvSpPr>
        <p:spPr>
          <a:xfrm>
            <a:off x="3063240" y="2651760"/>
            <a:ext cx="9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33" name="Shape 24"/>
          <p:cNvSpPr/>
          <p:nvPr/>
        </p:nvSpPr>
        <p:spPr>
          <a:xfrm>
            <a:off x="3182112" y="1993392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3182112" y="1993392"/>
            <a:ext cx="2697480" cy="45720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273552" y="20299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 — Livraison Continue</a:t>
            </a:r>
            <a:endParaRPr lang="en-US" sz="12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87952" y="2542032"/>
            <a:ext cx="658368" cy="658368"/>
          </a:xfrm>
          <a:prstGeom prst="rect">
            <a:avLst/>
          </a:prstGeom>
        </p:spPr>
      </p:pic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1840" y="3337560"/>
            <a:ext cx="237744" cy="237744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3639312" y="333756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dynamique :$BUILD_NUMBER</a:t>
            </a:r>
            <a:endParaRPr lang="en-US" sz="1000" dirty="0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1840" y="3767328"/>
            <a:ext cx="237744" cy="237744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3639312" y="37673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sécurisé vers Docker Hub</a:t>
            </a:r>
            <a:endParaRPr lang="en-US" sz="1000" dirty="0"/>
          </a:p>
        </p:txBody>
      </p:sp>
      <p:pic>
        <p:nvPicPr>
          <p:cNvPr id="41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1840" y="4197096"/>
            <a:ext cx="237744" cy="237744"/>
          </a:xfrm>
          <a:prstGeom prst="rect">
            <a:avLst/>
          </a:prstGeom>
        </p:spPr>
      </p:pic>
      <p:sp>
        <p:nvSpPr>
          <p:cNvPr id="42" name="Text 29"/>
          <p:cNvSpPr/>
          <p:nvPr/>
        </p:nvSpPr>
        <p:spPr>
          <a:xfrm>
            <a:off x="3639312" y="4197096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Versionnement immuable de chaque build</a:t>
            </a:r>
            <a:endParaRPr lang="en-US" sz="1000" dirty="0"/>
          </a:p>
        </p:txBody>
      </p:sp>
      <p:sp>
        <p:nvSpPr>
          <p:cNvPr id="43" name="Text 30"/>
          <p:cNvSpPr/>
          <p:nvPr/>
        </p:nvSpPr>
        <p:spPr>
          <a:xfrm>
            <a:off x="5925312" y="2651760"/>
            <a:ext cx="9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44" name="Shape 31"/>
          <p:cNvSpPr/>
          <p:nvPr/>
        </p:nvSpPr>
        <p:spPr>
          <a:xfrm>
            <a:off x="6044184" y="1993392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Shape 32"/>
          <p:cNvSpPr/>
          <p:nvPr/>
        </p:nvSpPr>
        <p:spPr>
          <a:xfrm>
            <a:off x="6044184" y="1993392"/>
            <a:ext cx="2697480" cy="45720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6135624" y="20299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CD2 — Déploiement Continu</a:t>
            </a:r>
            <a:endParaRPr lang="en-US" sz="1200" dirty="0"/>
          </a:p>
        </p:txBody>
      </p:sp>
      <p:pic>
        <p:nvPicPr>
          <p:cNvPr id="47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50024" y="2542032"/>
            <a:ext cx="658368" cy="658368"/>
          </a:xfrm>
          <a:prstGeom prst="rect">
            <a:avLst/>
          </a:prstGeom>
        </p:spPr>
      </p:pic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3337560"/>
            <a:ext cx="237744" cy="237744"/>
          </a:xfrm>
          <a:prstGeom prst="rect">
            <a:avLst/>
          </a:prstGeom>
        </p:spPr>
      </p:pic>
      <p:sp>
        <p:nvSpPr>
          <p:cNvPr id="49" name="Text 34"/>
          <p:cNvSpPr/>
          <p:nvPr/>
        </p:nvSpPr>
        <p:spPr>
          <a:xfrm>
            <a:off x="6501384" y="333756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de deployment.yaml avec la nouvelle image</a:t>
            </a:r>
            <a:endParaRPr lang="en-US" sz="1000" dirty="0"/>
          </a:p>
        </p:txBody>
      </p:sp>
      <p:pic>
        <p:nvPicPr>
          <p:cNvPr id="50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3767328"/>
            <a:ext cx="237744" cy="237744"/>
          </a:xfrm>
          <a:prstGeom prst="rect">
            <a:avLst/>
          </a:prstGeom>
        </p:spPr>
      </p:pic>
      <p:sp>
        <p:nvSpPr>
          <p:cNvPr id="51" name="Text 35"/>
          <p:cNvSpPr/>
          <p:nvPr/>
        </p:nvSpPr>
        <p:spPr>
          <a:xfrm>
            <a:off x="6501384" y="37673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 → API K3s</a:t>
            </a:r>
            <a:endParaRPr lang="en-US" sz="1000" dirty="0"/>
          </a:p>
        </p:txBody>
      </p:sp>
      <p:pic>
        <p:nvPicPr>
          <p:cNvPr id="52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4197096"/>
            <a:ext cx="237744" cy="237744"/>
          </a:xfrm>
          <a:prstGeom prst="rect">
            <a:avLst/>
          </a:prstGeom>
        </p:spPr>
      </p:pic>
      <p:sp>
        <p:nvSpPr>
          <p:cNvPr id="53" name="Text 36"/>
          <p:cNvSpPr/>
          <p:nvPr/>
        </p:nvSpPr>
        <p:spPr>
          <a:xfrm>
            <a:off x="6501384" y="4197096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NodePort 30080 expose l'app · image prune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Orchestration — Cluster K3s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Kubernetes léger : Master + Worker, pods et exposition NodePort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5029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88720"/>
            <a:ext cx="64008" cy="749808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34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: portfolio-deploy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151790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Manifeste Kubernetes géré par Jenkins via kubectl apply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084832"/>
            <a:ext cx="5029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84832"/>
            <a:ext cx="64008" cy="749808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305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: portfolio-container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4140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Docker versionnée depuis Docker Hub (:$BUILD_NUMBER)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980944"/>
            <a:ext cx="5029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80944"/>
            <a:ext cx="64008" cy="7498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026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: NodePort 30080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3310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publiquement l'application sur worker-ip:30080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3877056"/>
            <a:ext cx="5029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877056"/>
            <a:ext cx="64008" cy="7498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92277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limitées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256Mi RAM · 250m CPU par pod — optimisé pour t3.micro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23560" y="1097280"/>
            <a:ext cx="3200400" cy="37490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0" y="117043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K3s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0" y="1600200"/>
            <a:ext cx="2743200" cy="68580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89320" y="1664208"/>
            <a:ext cx="457200" cy="457200"/>
          </a:xfrm>
          <a:prstGeom prst="rect">
            <a:avLst/>
          </a:prstGeom>
          <a:noFill/>
        </p:spPr>
      </p:pic>
      <p:sp>
        <p:nvSpPr>
          <p:cNvPr id="26" name="Text 23"/>
          <p:cNvSpPr/>
          <p:nvPr/>
        </p:nvSpPr>
        <p:spPr>
          <a:xfrm>
            <a:off x="6492240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K3s Master Node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 · etcd · Scheduler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858000" y="23591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5943600" y="2697480"/>
            <a:ext cx="2743200" cy="68580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761488"/>
            <a:ext cx="457200" cy="4572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92240" y="27432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K3s Worker Node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Runtime · kubelet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6035040" y="3520440"/>
            <a:ext cx="256032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3584448"/>
            <a:ext cx="365760" cy="36576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492240" y="35661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Pod: portfolio-container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:30080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Défis Techniques &amp; Solutions Apportées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Obstacles rencontrés durant l'implémentation et stratégies de résolution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416052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133856"/>
            <a:ext cx="39410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Ressources Limitées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1480" y="1581912"/>
            <a:ext cx="3977640" cy="777240"/>
          </a:xfrm>
          <a:prstGeom prst="rect">
            <a:avLst/>
          </a:prstGeom>
          <a:solidFill>
            <a:srgbClr val="FFF8F8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6093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Problème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21208" y="181051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Instances t3.micro : CPU throttling et erreurs OOM-Killer lors des builds Docker et de l'exécution simultanée Jenkins + K3s.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24871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Solutions Apportées</a:t>
            </a:r>
            <a:endParaRPr lang="en-US" sz="1100" dirty="0"/>
          </a:p>
        </p:txBody>
      </p:sp>
      <p:pic>
        <p:nvPicPr>
          <p:cNvPr id="1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" y="2834640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78408" y="28254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1 Go via Terraform user_data dès le premier boot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2920" y="3355848"/>
            <a:ext cx="3749040" cy="9144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493008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78408" y="34838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DOCKER_BUILDKIT=1 pour des builds optimisés en mémoire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4014216"/>
            <a:ext cx="3749040" cy="9144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4151376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78408" y="41422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strictes : 256Mi RAM, 250m CPU par pod K3s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54880" y="1103336"/>
            <a:ext cx="4160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1097280"/>
            <a:ext cx="416052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864608" y="1133856"/>
            <a:ext cx="39410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Synchronisation des IPs Éphémères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846320" y="1581912"/>
            <a:ext cx="3977640" cy="777240"/>
          </a:xfrm>
          <a:prstGeom prst="rect">
            <a:avLst/>
          </a:prstGeom>
          <a:solidFill>
            <a:srgbClr val="FFF8F8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956048" y="16093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Problème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4956048" y="181051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IPs publiques AWS changent à chaque redémarrage, rompant la connexion de Terraform et les configurations Ansible.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864608" y="24871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Solutions Apportées</a:t>
            </a:r>
            <a:endParaRPr lang="en-US" sz="1100" dirty="0"/>
          </a:p>
        </p:txBody>
      </p:sp>
      <p:pic>
        <p:nvPicPr>
          <p:cNvPr id="28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919472" y="2834640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13248" y="28254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 en 2 triggers Terraform : initial_setup et reconfigure_stack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4937760" y="3355848"/>
            <a:ext cx="3749040" cy="9144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472" y="3493008"/>
            <a:ext cx="365760" cy="36576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413248" y="34838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reconfigure_stack détecte les changements d'IP et relance Ansible automatiquement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937760" y="4014216"/>
            <a:ext cx="3749040" cy="9144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pic>
        <p:nvPicPr>
          <p:cNvPr id="34" name="Image 5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919472" y="4151376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413248" y="41422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d'auto-remédiation intégré à l'architecture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de l'Infrastructure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d'auto-remédiation face aux IP éphémères AWS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1645920" cy="16459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3716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Redémarrage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57400" y="2167128"/>
            <a:ext cx="118872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2011680"/>
            <a:ext cx="256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3246120"/>
            <a:ext cx="1645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3246120"/>
            <a:ext cx="64008" cy="13258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3310128"/>
            <a:ext cx="1463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Initialisation et attribution d'une nouvelle IP publique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26080" y="1371600"/>
            <a:ext cx="1645920" cy="1645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926080" y="13716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Inventaire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17720" y="2167128"/>
            <a:ext cx="118872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560" y="2011680"/>
            <a:ext cx="256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26080" y="3246120"/>
            <a:ext cx="1645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0" y="3246120"/>
            <a:ext cx="64008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35808" y="3310128"/>
            <a:ext cx="1463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reconfigure_stack détecte le changement, met à jour hosts.ini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0" y="1371600"/>
            <a:ext cx="1645920" cy="1645920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0" y="13716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178040" y="2167128"/>
            <a:ext cx="118872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83880" y="2011680"/>
            <a:ext cx="256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0" y="3246120"/>
            <a:ext cx="1645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3246120"/>
            <a:ext cx="64008" cy="132588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96128" y="3310128"/>
            <a:ext cx="1463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Exécution des playbooks de reconfiguration sur les nœuds cibles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15200" y="1371600"/>
            <a:ext cx="1645920" cy="1645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315200" y="13716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Opérationnel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15200" y="3246120"/>
            <a:ext cx="1645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315200" y="3246120"/>
            <a:ext cx="64008" cy="1325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24928" y="3310128"/>
            <a:ext cx="1463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K3s et Jenkins restaurés, pipeline CI/CD fonctionnel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Guide de Reproduction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5943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pas-à-pas pour reproduire l'environnement complet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9768" y="1325880"/>
            <a:ext cx="594360" cy="594360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258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12527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Clé SSH AWS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581912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la paire cloud-project-key (.pem) dans la console AWS EC2 (type RSA). Sécuriser avec chmod 400.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386584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" y="2569464"/>
            <a:ext cx="594360" cy="594360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" y="2569464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4963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Locale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825496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Cloner le </a:t>
            </a:r>
            <a:r>
              <a:rPr lang="en-US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portfolio. Déplacer la clé .pem dans le répertoire du projet.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630168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9768" y="3813048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381304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37398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Terraform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40690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 : terraform init → terraform plan → terraform apply -auto-approve. Provisionnement automatique.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11430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64608" y="1325880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64608" y="13258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77840" y="12527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du Cluster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77840" y="1581912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vers le nœud maître. Vérifier sudo kubectl get nodes — tous les nœuds doivent être en état 'Ready'.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54880" y="2386584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64608" y="2569464"/>
            <a:ext cx="594360" cy="594360"/>
          </a:xfrm>
          <a:prstGeom prst="ellipse">
            <a:avLst/>
          </a:prstGeom>
          <a:solidFill>
            <a:srgbClr val="D33833"/>
          </a:solidFill>
          <a:ln w="12700">
            <a:solidFill>
              <a:srgbClr val="D338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64608" y="2569464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577840" y="24963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Jenkins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77840" y="2825496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à http://jenkins-ip:8080. Ajouter credentials GitHub + Docker Hub.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54880" y="3630168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64608" y="3813048"/>
            <a:ext cx="594360" cy="59436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64608" y="381304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77840" y="37398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Déploiement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577840" y="40690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Déclencher le pipeline Jenkins avec un git push. Vérifier l'application via http://worker-ip:30080 dans le navigateur.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514350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5143500"/>
          </a:xfrm>
          <a:prstGeom prst="rect">
            <a:avLst/>
          </a:prstGeom>
          <a:solidFill>
            <a:srgbClr val="2196F3">
              <a:alpha val="30000"/>
            </a:srgbClr>
          </a:solidFill>
          <a:ln w="12700">
            <a:solidFill>
              <a:srgbClr val="2196F3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4114800"/>
            <a:ext cx="1645920" cy="1645920"/>
          </a:xfrm>
          <a:prstGeom prst="ellipse">
            <a:avLst/>
          </a:prstGeom>
          <a:solidFill>
            <a:srgbClr val="2196F3">
              <a:alpha val="15000"/>
            </a:srgbClr>
          </a:solidFill>
          <a:ln w="12700">
            <a:solidFill>
              <a:srgbClr val="2196F3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3474720"/>
            <a:ext cx="914400" cy="914400"/>
          </a:xfrm>
          <a:prstGeom prst="ellipse">
            <a:avLst/>
          </a:prstGeom>
          <a:solidFill>
            <a:srgbClr val="00BCD4">
              <a:alpha val="15000"/>
            </a:srgbClr>
          </a:solidFill>
          <a:ln w="12700">
            <a:solidFill>
              <a:srgbClr val="00BCD4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Conclusion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234440"/>
            <a:ext cx="8138160" cy="658368"/>
          </a:xfrm>
          <a:prstGeom prst="rect">
            <a:avLst/>
          </a:prstGeom>
          <a:solidFill>
            <a:srgbClr val="122040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43000" y="12984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100% automatisée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43000" y="158191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configuration manuelle — du provisionnement au déploiement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2920" y="2039112"/>
            <a:ext cx="8138160" cy="658368"/>
          </a:xfrm>
          <a:prstGeom prst="rect">
            <a:avLst/>
          </a:prstGeom>
          <a:solidFill>
            <a:srgbClr val="122040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76272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43000" y="21031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fonctionnel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43000" y="238658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Docker versionnés, push Docker Hub, déploiement K3s automatique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2843784"/>
            <a:ext cx="8138160" cy="658368"/>
          </a:xfrm>
          <a:prstGeom prst="rect">
            <a:avLst/>
          </a:prstGeom>
          <a:solidFill>
            <a:srgbClr val="122040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80944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43000" y="290779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disponibilité assurée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43000" y="319125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K3s résilient, auto-remédiation sur redémarrage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" y="3648456"/>
            <a:ext cx="8138160" cy="658368"/>
          </a:xfrm>
          <a:prstGeom prst="rect">
            <a:avLst/>
          </a:prstGeom>
          <a:solidFill>
            <a:srgbClr val="122040"/>
          </a:solidFill>
          <a:ln w="12700">
            <a:solidFill>
              <a:srgbClr val="2196F3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78561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71246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des ressources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143000" y="399592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Swap, BuildKit, limites Kubernetes — t3.micro pleinement opérationnel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71428"/>
          </a:solidFill>
          <a:ln w="12700">
            <a:solidFill>
              <a:srgbClr val="071428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Abderrahmane HASSANI &amp; Anas ELHAFI · Projet DevOps Cloud Automation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1463</Words>
  <Application>Microsoft Office PowerPoint</Application>
  <PresentationFormat>On-screen Show (16:9)</PresentationFormat>
  <Paragraphs>269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Automatisation d'Infrastructure Cloud et Pipeline CI/CD</dc:title>
  <dc:subject>PptxGenJS Presentation</dc:subject>
  <dc:creator>PptxGenJS</dc:creator>
  <cp:lastModifiedBy>abderrahmane</cp:lastModifiedBy>
  <cp:revision>2</cp:revision>
  <dcterms:created xsi:type="dcterms:W3CDTF">2026-03-30T11:29:08Z</dcterms:created>
  <dcterms:modified xsi:type="dcterms:W3CDTF">2026-03-30T12:10:39Z</dcterms:modified>
</cp:coreProperties>
</file>