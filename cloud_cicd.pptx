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43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2196F3">
              <a:alpha val="30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4114800"/>
            <a:ext cx="1645920" cy="1645920"/>
          </a:xfrm>
          <a:prstGeom prst="ellipse">
            <a:avLst/>
          </a:prstGeom>
          <a:solidFill>
            <a:srgbClr val="2196F3">
              <a:alpha val="15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914400" cy="9144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85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d'Infrastructure Cloud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Pipeline CI/CD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9144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· CI/CD Automation · Container Orchestration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4023360" cy="1371600"/>
          </a:xfrm>
          <a:prstGeom prst="rect">
            <a:avLst/>
          </a:prstGeom>
          <a:solidFill>
            <a:srgbClr val="1220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832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Abderrahmane HASSANI &amp; Anas ELHAFI
</a:t>
            </a: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l'infrastructure cloud et déployer un pipeline CI/CD de bout en bout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41148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7200"/>
            <a:ext cx="731520" cy="731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60920" y="41148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57200"/>
            <a:ext cx="731520" cy="7315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55080" y="132588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71600"/>
            <a:ext cx="731520" cy="7315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60920" y="132588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371600"/>
            <a:ext cx="731520" cy="7315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858000" y="224028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286000"/>
            <a:ext cx="822960" cy="8229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8"/>
          </a:solidFill>
          <a:ln w="12700">
            <a:solidFill>
              <a:srgbClr val="07142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d'Automatisation Avancée · DevOps &amp; Cloud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Matières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des chapitres de la présentation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2252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Projet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globale, objectifs et périmètre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031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496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des outils et frameworks retenus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Provisionnement avec Terraform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Code, EC2, réseau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319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776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968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avec Ansible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logicielle, playbooks séquentiels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1887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2344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12252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avec Jenkins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1581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push et déploiement automatisés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1031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1031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148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21396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K3s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2496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Kubernetes léger, pods et services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0175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063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40680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&amp; Solutions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Ressources, IP éphémères, résilience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9319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931920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9776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40680" y="3968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Reproduction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40680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mise en œuvre et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Vue d'Ensemble du Projet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objectifs et architecture de haut niveau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met en œuvre une chaîne DevOps complète et automatisée sur AWS. L'objectif central est d'éliminer toute intervention manuelle — du provisionnement de l'infrastructure jusqu'à la mise en production d'une application conteneurisée.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020824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3063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Provisionnement reproductible et versionnable de l'infrastructure AWS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6888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020824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Configuration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60320" y="3063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automatisée et cohérente de tous les nœuds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1772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2020824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Continue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9160" y="3063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automatisé de build, test et livraison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66560" y="187452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2032936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Cloud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58000" y="3063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haute disponibilité via cluster K3s léger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4320" y="4663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Outils DevOps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2286000" y="4754880"/>
            <a:ext cx="18288" cy="256032"/>
          </a:xfrm>
          <a:prstGeom prst="rect">
            <a:avLst/>
          </a:prstGeom>
          <a:solidFill>
            <a:srgbClr val="3A5A8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468880" y="4663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Instances AWS t3.micro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480560" y="4754880"/>
            <a:ext cx="18288" cy="256032"/>
          </a:xfrm>
          <a:prstGeom prst="rect">
            <a:avLst/>
          </a:prstGeom>
          <a:solidFill>
            <a:srgbClr val="3A5A8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663440" y="4663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 K3s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675120" y="4754880"/>
            <a:ext cx="18288" cy="256032"/>
          </a:xfrm>
          <a:prstGeom prst="rect">
            <a:avLst/>
          </a:prstGeom>
          <a:solidFill>
            <a:srgbClr val="3A5A8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858000" y="4663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Intervention Manuelle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Choix Technologiques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des outils sélectionnés pour chaque couche de l'architecture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36245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9848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Provisionnement IaC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9768" y="19933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AWS natif via provider officiel. Permet la reproductibilité complète.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82112" y="11887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36245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93192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Configuration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91840" y="19933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agent, YAML lisible. Parfait pour configurer des nœuds fraîchement provisionnés.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44184" y="118872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36245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93992" y="1298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793992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53912" y="19933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</a:t>
            </a: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plugins.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20040" y="303580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" y="3209544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9848" y="3145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069848" y="3438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29768" y="384048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dépendances,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portabilité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182112" y="303580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209544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31920" y="3145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931920" y="3438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Légère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291840" y="384048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Leger et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instances t3.micro.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044184" y="3035808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53912" y="3172968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209544"/>
            <a:ext cx="475488" cy="4754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93992" y="3145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793992" y="3438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Cloud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153912" y="384048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Stabilté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securité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Provisionnement avec Terraform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AWS EC2 Debian 12, réseau et automatisation système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02920" cy="502920"/>
          </a:xfrm>
          <a:prstGeom prst="ellipse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" y="1737360"/>
            <a:ext cx="32004" cy="4114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143000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143000"/>
            <a:ext cx="64008" cy="71323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1887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init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14996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des providers AWS, téléchargement des modules et plugins requis.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502920" cy="502920"/>
          </a:xfrm>
          <a:prstGeom prst="ellipse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" y="2651760"/>
            <a:ext cx="32004" cy="4114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057400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2057400"/>
            <a:ext cx="64008" cy="71323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103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4140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des ressources à créer : instances EC2, Security Groups, VPC, clés SSH.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502920" cy="502920"/>
          </a:xfrm>
          <a:prstGeom prst="ellipse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" y="3566160"/>
            <a:ext cx="32004" cy="4114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2971800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2971800"/>
            <a:ext cx="64008" cy="71323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3017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apply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33284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effectif des VMs (Jenkins, Master K3s, Worker), réseau et partitions swap.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977640"/>
            <a:ext cx="502920" cy="502920"/>
          </a:xfrm>
          <a:prstGeom prst="ellipse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3886200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" y="3886200"/>
            <a:ext cx="64008" cy="71323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3931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42428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IPs publiques/privées et du kubeconfig pour les étapes Ansible suivantes.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1097280"/>
            <a:ext cx="3931920" cy="379476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11704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300" dirty="0"/>
          </a:p>
        </p:txBody>
      </p:sp>
      <p:pic>
        <p:nvPicPr>
          <p:cNvPr id="3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600200"/>
            <a:ext cx="347472" cy="34747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486400" y="15727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instances EC2 t3.micro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486400" y="18470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· K3s Master · K3s Worker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074920" y="2103120"/>
            <a:ext cx="356616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0" y="2240280"/>
            <a:ext cx="347472" cy="34747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486400" y="2212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5486400" y="2487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22, 8080, 6443, 30080 configurés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5074920" y="2743200"/>
            <a:ext cx="356616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3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29200" y="2880360"/>
            <a:ext cx="347472" cy="34747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486400" y="2852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automatique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5486400" y="31272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Go via user_data au premier boot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074920" y="3383280"/>
            <a:ext cx="356616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7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29200" y="3520440"/>
            <a:ext cx="347472" cy="347472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486400" y="3493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user_data scripts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54864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injecté dès le démarrage des VMs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5074920" y="4023360"/>
            <a:ext cx="356616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51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29200" y="4160520"/>
            <a:ext cx="347472" cy="347472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486400" y="4133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Two-trigger strategy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5486400" y="4407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initial_setup + reconfigure_stack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Réseau &amp; Gestion des Flux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AWS — contrôle granulaire des entrées/sorties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1605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22 · SSH</a:t>
            </a:r>
            <a:endParaRPr lang="en-US" sz="130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4592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9848" y="1618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administratif distant sécurisé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69848" y="192938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exclusivement par Terraform et Ansible pour la configuration des nœuds.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14300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143000"/>
            <a:ext cx="41605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· TCP</a:t>
            </a:r>
            <a:endParaRPr lang="en-US" sz="1300" dirty="0"/>
          </a:p>
        </p:txBody>
      </p:sp>
      <p:pic>
        <p:nvPicPr>
          <p:cNvPr id="1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2040" y="1645920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04688" y="1618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Jenkins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04688" y="192938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CI/CD — accessible aux administrateurs pour déclencher et surveiller les builds.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3063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063240"/>
            <a:ext cx="4160520" cy="41148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6443 · TCP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66160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9848" y="3538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Kubernetes K3s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69848" y="38496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interne et externe avec l'API server — utilisée par kubectl et Jenkins.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54880" y="306324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3063240"/>
            <a:ext cx="4160520" cy="4114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64608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30080 · NodePort</a:t>
            </a:r>
            <a:endParaRPr lang="en-US" sz="13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566160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04688" y="35387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déployée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04688" y="38496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publique de l'application web via NodePort Kubernetes sur le nœud worker.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Gestion de Configuration — Ansible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asymétrique : orchestration centralisée depuis le nœud maître K3s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 IaC : Terraform génère dynamiquement hosts.ini avec les IPs des instances, installe Ansible sur le nœud maître via user_data, et transfère sécuritairement clé .pem + playbooks YAML.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755648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55648"/>
            <a:ext cx="2697480" cy="45720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7393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master_setup.yml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0208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: [master]</a:t>
            </a:r>
            <a:endParaRPr lang="en-US" sz="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331720"/>
            <a:ext cx="685800" cy="68580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272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 K3s server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5112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35112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l'API Kubernetes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89534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8953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 token d'authentification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427939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le kubeconfig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3182112" y="1755648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182112" y="1755648"/>
            <a:ext cx="2697480" cy="457200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273552" y="177393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jenkins_setup.yml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273552" y="20208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: [jenkins]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2331720"/>
            <a:ext cx="685800" cy="685800"/>
          </a:xfrm>
          <a:prstGeom prst="rect">
            <a:avLst/>
          </a:prstGeom>
        </p:spPr>
      </p:pic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12724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39312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 Java 17 + Jenkins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511296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39312" y="35112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 Docker daemon</a:t>
            </a:r>
            <a:endParaRPr lang="en-US" sz="10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895344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639312" y="38953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kubeconfig depuis Master</a:t>
            </a:r>
            <a:endParaRPr lang="en-US" sz="10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279392"/>
            <a:ext cx="256032" cy="25603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639312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plugins CI/CD</a:t>
            </a:r>
            <a:endParaRPr lang="en-US" sz="1050" dirty="0"/>
          </a:p>
        </p:txBody>
      </p:sp>
      <p:sp>
        <p:nvSpPr>
          <p:cNvPr id="34" name="Shape 22"/>
          <p:cNvSpPr/>
          <p:nvPr/>
        </p:nvSpPr>
        <p:spPr>
          <a:xfrm>
            <a:off x="6044184" y="1755648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6044184" y="1755648"/>
            <a:ext cx="269748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6135624" y="177393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worker_setup.yml</a:t>
            </a:r>
            <a:endParaRPr lang="en-US" sz="1150" dirty="0"/>
          </a:p>
        </p:txBody>
      </p:sp>
      <p:sp>
        <p:nvSpPr>
          <p:cNvPr id="37" name="Text 25"/>
          <p:cNvSpPr/>
          <p:nvPr/>
        </p:nvSpPr>
        <p:spPr>
          <a:xfrm>
            <a:off x="6135624" y="202082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: [worker]</a:t>
            </a:r>
            <a:endParaRPr lang="en-US" sz="9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2331720"/>
            <a:ext cx="685800" cy="685800"/>
          </a:xfrm>
          <a:prstGeom prst="rect">
            <a:avLst/>
          </a:prstGeom>
        </p:spPr>
      </p:pic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127248"/>
            <a:ext cx="256032" cy="25603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501384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Docker daemon</a:t>
            </a:r>
            <a:endParaRPr lang="en-US" sz="105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511296"/>
            <a:ext cx="256032" cy="256032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501384" y="351129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agent K3s</a:t>
            </a:r>
            <a:endParaRPr lang="en-US" sz="105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3895344"/>
            <a:ext cx="256032" cy="25603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501384" y="38953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Rejoint le cluster via IP privée</a:t>
            </a:r>
            <a:endParaRPr lang="en-US" sz="105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4279392"/>
            <a:ext cx="256032" cy="256032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501384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l'état 'Ready'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Pipeline CI/CD — Jenkins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déclaratif : trois phases séquentielles de l'intégration au déploiement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7132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" y="117043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1338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SCM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déclenche le build automatiquement à chaque push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82112" y="1097280"/>
            <a:ext cx="2697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82112" y="1097280"/>
            <a:ext cx="64008" cy="7132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70432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2192" y="11338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Plugin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822192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Docker intégré, accès au daemon Docker local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44184" y="1097280"/>
            <a:ext cx="2697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44184" y="1097280"/>
            <a:ext cx="64008" cy="7132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8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53912" y="1170432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84264" y="11338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684264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login chiffré via gestionnaire Jenkins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686800" y="1207008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4F8FC"/>
                </a:solidFill>
              </a:rPr>
              <a:t>Préconfiguration Jenkins</a:t>
            </a:r>
            <a:endParaRPr lang="en-US" sz="100" dirty="0"/>
          </a:p>
        </p:txBody>
      </p:sp>
      <p:sp>
        <p:nvSpPr>
          <p:cNvPr id="22" name="Shape 17"/>
          <p:cNvSpPr/>
          <p:nvPr/>
        </p:nvSpPr>
        <p:spPr>
          <a:xfrm>
            <a:off x="320040" y="1993392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1993392"/>
            <a:ext cx="26974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1148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Intégration Continue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2542032"/>
            <a:ext cx="658368" cy="658368"/>
          </a:xfrm>
          <a:prstGeom prst="rect">
            <a:avLst/>
          </a:prstGeom>
        </p:spPr>
      </p:pic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33756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du code source (GitHub SCM)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76732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77240" y="37673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image Docker via BuildKit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19709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77240" y="41970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: node:20, DOCKER_BUILDKIT=1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3063240" y="265176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3182112" y="1993392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3182112" y="1993392"/>
            <a:ext cx="269748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273552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CD1 — Livraison Continue</a:t>
            </a:r>
            <a:endParaRPr lang="en-US" sz="12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7952" y="2542032"/>
            <a:ext cx="658368" cy="658368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337560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39312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dynamique :$BUILD_NUMBER</a:t>
            </a:r>
            <a:endParaRPr lang="en-US" sz="10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767328"/>
            <a:ext cx="237744" cy="23774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639312" y="37673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sécurisé vers Docker Hub</a:t>
            </a:r>
            <a:endParaRPr lang="en-US" sz="10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4197096"/>
            <a:ext cx="237744" cy="23774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3639312" y="41970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 immuable de chaque build</a:t>
            </a:r>
            <a:endParaRPr lang="en-US" sz="1000" dirty="0"/>
          </a:p>
        </p:txBody>
      </p:sp>
      <p:sp>
        <p:nvSpPr>
          <p:cNvPr id="43" name="Text 30"/>
          <p:cNvSpPr/>
          <p:nvPr/>
        </p:nvSpPr>
        <p:spPr>
          <a:xfrm>
            <a:off x="5925312" y="265176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44" name="Shape 31"/>
          <p:cNvSpPr/>
          <p:nvPr/>
        </p:nvSpPr>
        <p:spPr>
          <a:xfrm>
            <a:off x="6044184" y="1993392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2"/>
          <p:cNvSpPr/>
          <p:nvPr/>
        </p:nvSpPr>
        <p:spPr>
          <a:xfrm>
            <a:off x="6044184" y="1993392"/>
            <a:ext cx="2697480" cy="45720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6135624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CD2 — Déploiement Continu</a:t>
            </a:r>
            <a:endParaRPr lang="en-US" sz="12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0024" y="2542032"/>
            <a:ext cx="658368" cy="658368"/>
          </a:xfrm>
          <a:prstGeom prst="rect">
            <a:avLst/>
          </a:prstGeom>
        </p:spPr>
      </p:pic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3337560"/>
            <a:ext cx="237744" cy="237744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6501384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de deployment.yaml avec la nouvelle image</a:t>
            </a:r>
            <a:endParaRPr lang="en-US" sz="100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3767328"/>
            <a:ext cx="237744" cy="237744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501384" y="376732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→ API K3s</a:t>
            </a:r>
            <a:endParaRPr lang="en-US" sz="1000" dirty="0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4197096"/>
            <a:ext cx="237744" cy="237744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6501384" y="419709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30080 expose l'app · image prune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Orchestration — Cluster K3s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Kubernetes léger : Master + Worker, pods et exposition NodePort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64008" cy="749808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: portfolio-deploy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 Kubernetes géré par Jenkins via kubectl apply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84832"/>
            <a:ext cx="64008" cy="7498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: portfolio-container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 versionnée depuis Docker Hub (:$BUILD_NUMBER)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80944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80944"/>
            <a:ext cx="64008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26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: NodePort 30080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310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publiquement l'application sur worker-ip:30080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77056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77056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limitées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256Mi RAM · 250m CPU par pod — optimisé pour t3.micro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1097280"/>
            <a:ext cx="320040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11704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K3s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1600200"/>
            <a:ext cx="2743200" cy="6858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1664208"/>
            <a:ext cx="457200" cy="457200"/>
          </a:xfrm>
          <a:prstGeom prst="rect">
            <a:avLst/>
          </a:prstGeom>
          <a:noFill/>
        </p:spPr>
      </p:pic>
      <p:sp>
        <p:nvSpPr>
          <p:cNvPr id="26" name="Text 23"/>
          <p:cNvSpPr/>
          <p:nvPr/>
        </p:nvSpPr>
        <p:spPr>
          <a:xfrm>
            <a:off x="649224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Master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· etcd · Scheduler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0" y="23591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943600" y="2697480"/>
            <a:ext cx="2743200" cy="6858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761488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9224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Worker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· kubelet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035040" y="3520440"/>
            <a:ext cx="256032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584448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9224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portfolio-container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:30080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Défis Techniques &amp; Solutions Apportées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rencontrés durant l'implémentation et stratégies de résolution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605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33856"/>
            <a:ext cx="3941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Ressources Limitées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581912"/>
            <a:ext cx="3977640" cy="7772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609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1810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t3.micro : CPU throttling et erreurs OOM-Killer lors des builds Docker et de l'exécution simultanée Jenkins + K3s.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2487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Solutions Apportées</a:t>
            </a:r>
            <a:endParaRPr lang="en-US" sz="1100" dirty="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" y="283464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78408" y="28254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1 Go via Terraform user_data dès le premier boot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355848"/>
            <a:ext cx="374904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49300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78408" y="3483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DOCKER_BUILDKIT=1 pour des builds optimisés en mémoire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4014216"/>
            <a:ext cx="374904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415137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8408" y="4142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strictes : 256Mi RAM, 250m CPU par pod K3s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1103336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1097280"/>
            <a:ext cx="41605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64608" y="1133856"/>
            <a:ext cx="3941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des IPs Éphémères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846320" y="1581912"/>
            <a:ext cx="3977640" cy="77724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956048" y="1609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956048" y="1810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IPs publiques AWS changent à chaque redémarrage, rompant la connexion de Terraform et les configurations Ansible.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864608" y="24871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Solutions Apportées</a:t>
            </a:r>
            <a:endParaRPr lang="en-US" sz="1100" dirty="0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19472" y="28346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13248" y="28254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en 2 triggers Terraform : initial_setup et reconfigure_stack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937760" y="3355848"/>
            <a:ext cx="374904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49300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13248" y="3483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reconfigure_stack détecte les changements d'IP et relance Ansible automatiquement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937760" y="4014216"/>
            <a:ext cx="3749040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4" name="Image 5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919472" y="4151376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413248" y="4142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d'auto-remédiation intégré à l'architecture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de l'Infrastructure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d'auto-remédiation face aux IP éphémères AWS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645920" cy="1645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2167128"/>
            <a:ext cx="11887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01168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1645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246120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31012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et attribution d'une nouvelle IP publique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371600"/>
            <a:ext cx="1645920" cy="1645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Inventaire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2167128"/>
            <a:ext cx="11887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01168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3246120"/>
            <a:ext cx="1645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0" y="324612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331012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reconfigure_stack détecte le changement, met à jour hosts.ini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1371600"/>
            <a:ext cx="1645920" cy="164592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78040" y="2167128"/>
            <a:ext cx="11887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011680"/>
            <a:ext cx="256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0" y="3246120"/>
            <a:ext cx="1645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246120"/>
            <a:ext cx="64008" cy="13258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331012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des playbooks de reconfiguration sur les nœuds cibles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1371600"/>
            <a:ext cx="1645920" cy="1645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0" y="3246120"/>
            <a:ext cx="1645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3246120"/>
            <a:ext cx="6400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3310128"/>
            <a:ext cx="1463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K3s et Jenkins restaurés, pipeline CI/CD fonctionnel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Guide de Reproduction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pas-à-pas pour reproduire l'environnement complet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325880"/>
            <a:ext cx="594360" cy="594360"/>
          </a:xfrm>
          <a:prstGeom prst="ellipse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2527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Clé SSH AWS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8191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paire cloud-project-key (.pem) dans la console AWS EC2 (type RSA). Sécuriser avec chmod 400.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8658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2569464"/>
            <a:ext cx="594360" cy="59436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5694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496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Locale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82549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 le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portfolio. Déplacer la clé .pem dans le répertoire du projet.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3016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3813048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813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7398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Terraform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0690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: terraform init → terraform plan → terraform apply -auto-approve. Provisionnement automatique.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32588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12527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Cluster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158191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vers le nœud maître. Vérifier sudo kubectl get nodes — tous les nœuds doivent être en état 'Ready'.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38658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2569464"/>
            <a:ext cx="594360" cy="594360"/>
          </a:xfrm>
          <a:prstGeom prst="ellipse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5694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2496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Jenkins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82549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à http://jenkins-ip:8080. Ajouter credentials GitHub + Docker Hub.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63016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813048"/>
            <a:ext cx="594360" cy="5943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813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37398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Déploiement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406908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le pipeline Jenkins avec un git push. Vérifier l'application via http://worker-ip:30080 dans le navigateur.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2196F3">
              <a:alpha val="30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4114800"/>
            <a:ext cx="1645920" cy="1645920"/>
          </a:xfrm>
          <a:prstGeom prst="ellipse">
            <a:avLst/>
          </a:prstGeom>
          <a:solidFill>
            <a:srgbClr val="2196F3">
              <a:alpha val="15000"/>
            </a:srgbClr>
          </a:solidFill>
          <a:ln w="12700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914400" cy="9144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Conclusion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109728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8138160" cy="658368"/>
          </a:xfrm>
          <a:prstGeom prst="rect">
            <a:avLst/>
          </a:prstGeom>
          <a:solidFill>
            <a:srgbClr val="122040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298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100% automatisée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15819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configuration manuelle — du provisionnement au déploiement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039112"/>
            <a:ext cx="8138160" cy="658368"/>
          </a:xfrm>
          <a:prstGeom prst="rect">
            <a:avLst/>
          </a:prstGeom>
          <a:solidFill>
            <a:srgbClr val="122040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7627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fonctionnel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43000" y="23865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Docker versionnés, push Docker Hub, déploiement K3s automatique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2843784"/>
            <a:ext cx="8138160" cy="658368"/>
          </a:xfrm>
          <a:prstGeom prst="rect">
            <a:avLst/>
          </a:prstGeom>
          <a:solidFill>
            <a:srgbClr val="122040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8094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907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 assurée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3000" y="3191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K3s résilient, auto-remédiation sur redémarrage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3648456"/>
            <a:ext cx="8138160" cy="658368"/>
          </a:xfrm>
          <a:prstGeom prst="rect">
            <a:avLst/>
          </a:prstGeom>
          <a:solidFill>
            <a:srgbClr val="122040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856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7124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ressources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43000" y="39959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Swap, BuildKit, limites Kubernetes — t3.micro pleinement opérationnel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1428"/>
          </a:solidFill>
          <a:ln w="12700">
            <a:solidFill>
              <a:srgbClr val="07142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Abderrahmane HASSANI &amp; Anas ELHAFI · Projet DevOps Cloud Automation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1357</Words>
  <Application>Microsoft Office PowerPoint</Application>
  <PresentationFormat>On-screen Show (16:9)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Automatisation d'Infrastructure Cloud et Pipeline CI/CD</dc:title>
  <dc:subject>PptxGenJS Presentation</dc:subject>
  <dc:creator>PptxGenJS</dc:creator>
  <cp:lastModifiedBy>abderrahmane</cp:lastModifiedBy>
  <cp:revision>3</cp:revision>
  <dcterms:created xsi:type="dcterms:W3CDTF">2026-03-30T11:29:08Z</dcterms:created>
  <dcterms:modified xsi:type="dcterms:W3CDTF">2026-04-01T20:18:51Z</dcterms:modified>
</cp:coreProperties>
</file>